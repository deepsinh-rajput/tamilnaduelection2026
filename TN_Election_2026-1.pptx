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792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Flip Count</c:v>
                </c:pt>
              </c:strCache>
            </c:strRef>
          </c:tx>
          <c:spPr>
            <a:solidFill>
              <a:srgbClr val="1B998B"/>
            </a:solidFill>
            <a:effectLst/>
          </c:spPr>
          <c:dPt>
            <c:idx val="0"/>
          </c:dPt>
          <c:dPt>
            <c:idx val="1"/>
          </c:dPt>
          <c:dPt>
            <c:idx val="2"/>
            <c:spPr>
              <a:solidFill>
                <a:srgbClr val="2BB5A0"/>
              </a:solidFill>
              <a:effectLst/>
            </c:spPr>
          </c:dPt>
          <c:dPt>
            <c:idx val="3"/>
            <c:spPr>
              <a:solidFill>
                <a:srgbClr val="3ECFBA"/>
              </a:solidFill>
              <a:effectLst/>
            </c:spPr>
          </c:dPt>
          <c:dPt>
            <c:idx val="4"/>
            <c:spPr>
              <a:solidFill>
                <a:srgbClr val="56D9C8"/>
              </a:solidFill>
              <a:effectLst/>
            </c:spPr>
          </c:dPt>
          <c:dPt>
            <c:idx val="5"/>
            <c:spPr>
              <a:solidFill>
                <a:srgbClr val="80E6DA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South</c:v>
                </c:pt>
                <c:pt idx="1">
                  <c:v>Chennai Metro</c:v>
                </c:pt>
                <c:pt idx="2">
                  <c:v>North</c:v>
                </c:pt>
                <c:pt idx="3">
                  <c:v>Kongu</c:v>
                </c:pt>
                <c:pt idx="4">
                  <c:v>Central</c:v>
                </c:pt>
                <c:pt idx="5">
                  <c:v>Delta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30</c:v>
                </c:pt>
                <c:pt idx="2">
                  <c:v>27</c:v>
                </c:pt>
                <c:pt idx="3">
                  <c:v>27</c:v>
                </c:pt>
                <c:pt idx="4">
                  <c:v>26</c:v>
                </c:pt>
                <c:pt idx="5">
                  <c:v>15</c:v>
                </c:pt>
              </c:numCache>
            </c:numRef>
          </c:val>
        </c:ser>
        <c:dLbls>
          <c:showVal val="1"/>
        </c:dLbls>
        <c:axId val="125408768"/>
        <c:axId val="125410304"/>
      </c:barChart>
      <c:catAx>
        <c:axId val="125408768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125410304"/>
        <c:crosses val="autoZero"/>
        <c:auto val="1"/>
        <c:lblAlgn val="ctr"/>
        <c:lblOffset val="100"/>
        <c:noMultiLvlLbl val="1"/>
      </c:catAx>
      <c:valAx>
        <c:axId val="125410304"/>
        <c:scaling>
          <c:orientation val="minMax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5408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2A900"/>
            </a:solidFill>
            <a:effectLst/>
          </c:spPr>
          <c:dPt>
            <c:idx val="0"/>
          </c:dPt>
          <c:dPt>
            <c:idx val="1"/>
          </c:dPt>
          <c:dPt>
            <c:idx val="2"/>
            <c:spPr>
              <a:solidFill>
                <a:srgbClr val="1B998B"/>
              </a:solidFill>
              <a:effectLst/>
            </c:spPr>
          </c:dPt>
          <c:dPt>
            <c:idx val="3"/>
            <c:spPr>
              <a:solidFill>
                <a:srgbClr val="1B998B"/>
              </a:solidFill>
              <a:effectLst/>
            </c:spPr>
          </c:dPt>
          <c:dPt>
            <c:idx val="4"/>
            <c:spPr>
              <a:solidFill>
                <a:srgbClr val="E6394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DMK→TVK</c:v>
                </c:pt>
                <c:pt idx="1">
                  <c:v>AIADMK→TVK</c:v>
                </c:pt>
                <c:pt idx="2">
                  <c:v>DMK→AIADMK</c:v>
                </c:pt>
                <c:pt idx="3">
                  <c:v>AIADMK→DMK</c:v>
                </c:pt>
                <c:pt idx="4">
                  <c:v>INC→TVK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26</c:v>
                </c:pt>
                <c:pt idx="2">
                  <c:v>22</c:v>
                </c:pt>
                <c:pt idx="3">
                  <c:v>15</c:v>
                </c:pt>
                <c:pt idx="4">
                  <c:v>11</c:v>
                </c:pt>
              </c:numCache>
            </c:numRef>
          </c:val>
        </c:ser>
        <c:dLbls>
          <c:showVal val="1"/>
        </c:dLbls>
        <c:axId val="125879808"/>
        <c:axId val="125881344"/>
      </c:barChart>
      <c:catAx>
        <c:axId val="125879808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125881344"/>
        <c:crosses val="autoZero"/>
        <c:auto val="1"/>
        <c:lblAlgn val="ctr"/>
        <c:lblOffset val="100"/>
        <c:noMultiLvlLbl val="1"/>
      </c:catAx>
      <c:valAx>
        <c:axId val="125881344"/>
        <c:scaling>
          <c:orientation val="minMax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587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Chennai Metro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0D1B2A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DMK</c:v>
                </c:pt>
                <c:pt idx="1">
                  <c:v>TVK</c:v>
                </c:pt>
                <c:pt idx="2">
                  <c:v>AIADMK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B998B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DMK</c:v>
                </c:pt>
                <c:pt idx="1">
                  <c:v>TVK</c:v>
                </c:pt>
                <c:pt idx="2">
                  <c:v>AIADMK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29</c:v>
                </c:pt>
                <c:pt idx="2">
                  <c:v>1</c:v>
                </c:pt>
              </c:numCache>
            </c:numRef>
          </c:val>
        </c:ser>
        <c:dLbls>
          <c:showVal val="1"/>
        </c:dLbls>
        <c:axId val="125509632"/>
        <c:axId val="125511168"/>
      </c:barChart>
      <c:catAx>
        <c:axId val="12550963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125511168"/>
        <c:crosses val="autoZero"/>
        <c:auto val="1"/>
        <c:lblAlgn val="ctr"/>
        <c:lblOffset val="100"/>
        <c:noMultiLvlLbl val="1"/>
      </c:catAx>
      <c:valAx>
        <c:axId val="125511168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5509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South Region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0D1B2A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DMK</c:v>
                </c:pt>
                <c:pt idx="1">
                  <c:v>TVK</c:v>
                </c:pt>
                <c:pt idx="2">
                  <c:v>AIADMK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0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2A900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DMK</c:v>
                </c:pt>
                <c:pt idx="1">
                  <c:v>TVK</c:v>
                </c:pt>
                <c:pt idx="2">
                  <c:v>AIADMK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26</c:v>
                </c:pt>
                <c:pt idx="2">
                  <c:v>6</c:v>
                </c:pt>
              </c:numCache>
            </c:numRef>
          </c:val>
        </c:ser>
        <c:dLbls>
          <c:showVal val="1"/>
        </c:dLbls>
        <c:axId val="125569664"/>
        <c:axId val="125575552"/>
      </c:barChart>
      <c:catAx>
        <c:axId val="12556966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125575552"/>
        <c:crosses val="autoZero"/>
        <c:auto val="1"/>
        <c:lblAlgn val="ctr"/>
        <c:lblOffset val="100"/>
        <c:noMultiLvlLbl val="1"/>
      </c:catAx>
      <c:valAx>
        <c:axId val="125575552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5569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Victory Margin (Votes)</c:v>
                </c:pt>
              </c:strCache>
            </c:strRef>
          </c:tx>
          <c:spPr>
            <a:solidFill>
              <a:srgbClr val="E63946"/>
            </a:solidFill>
            <a:effectLst/>
          </c:spPr>
          <c:dPt>
            <c:idx val="0"/>
          </c:dPt>
          <c:dPt>
            <c:idx val="1"/>
            <c:spPr>
              <a:solidFill>
                <a:srgbClr val="E8636B"/>
              </a:solidFill>
              <a:effectLst/>
            </c:spPr>
          </c:dPt>
          <c:dPt>
            <c:idx val="2"/>
            <c:spPr>
              <a:solidFill>
                <a:srgbClr val="EF868C"/>
              </a:solidFill>
              <a:effectLst/>
            </c:spPr>
          </c:dPt>
          <c:dPt>
            <c:idx val="3"/>
            <c:spPr>
              <a:solidFill>
                <a:srgbClr val="F5A8AC"/>
              </a:solidFill>
              <a:effectLst/>
            </c:spPr>
          </c:dPt>
          <c:dPt>
            <c:idx val="4"/>
            <c:spPr>
              <a:solidFill>
                <a:srgbClr val="FACDD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Tiruppattur</c:v>
                </c:pt>
                <c:pt idx="1">
                  <c:v>Veppanahalli</c:v>
                </c:pt>
                <c:pt idx="2">
                  <c:v>Kanniyakumari</c:v>
                </c:pt>
                <c:pt idx="3">
                  <c:v>Polur</c:v>
                </c:pt>
                <c:pt idx="4">
                  <c:v>Tirukkoyilur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138</c:v>
                </c:pt>
                <c:pt idx="2">
                  <c:v>214</c:v>
                </c:pt>
                <c:pt idx="3">
                  <c:v>227</c:v>
                </c:pt>
                <c:pt idx="4">
                  <c:v>285</c:v>
                </c:pt>
              </c:numCache>
            </c:numRef>
          </c:val>
        </c:ser>
        <c:dLbls>
          <c:showVal val="1"/>
        </c:dLbls>
        <c:axId val="125975552"/>
        <c:axId val="125977344"/>
      </c:barChart>
      <c:catAx>
        <c:axId val="125975552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125977344"/>
        <c:crosses val="autoZero"/>
        <c:auto val="1"/>
        <c:lblAlgn val="ctr"/>
        <c:lblOffset val="100"/>
        <c:noMultiLvlLbl val="1"/>
      </c:catAx>
      <c:valAx>
        <c:axId val="125977344"/>
        <c:scaling>
          <c:orientation val="minMax"/>
        </c:scaling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25975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B998B">
              <a:alpha val="25000"/>
            </a:srgbClr>
          </a:solidFill>
          <a:ln w="12700">
            <a:solidFill>
              <a:srgbClr val="1B998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F2A900">
              <a:alpha val="20000"/>
            </a:srgbClr>
          </a:solidFill>
          <a:ln w="12700">
            <a:solidFill>
              <a:srgbClr val="F2A90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ELECTION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Seat Redistribution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Electoral Competitiveness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2286000" cy="3657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AtliQ Media Leadership  | 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Constituencies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60120"/>
            <a:ext cx="2011680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Constituencies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2011680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960120"/>
            <a:ext cx="2011680" cy="1645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143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↓26.6%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 Drop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288036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out of 234 constituencies changed their winning party between 2021 and 2026.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Tamil Nadu recorded the highest number of seat flips (38 seats).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 saw dramatic shift: DMK dropped from 29 to 2 seats; TVK gained 29.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victory margins declined from 22,871 votes (2021) to 16,784 votes (2026).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Tiruppattur was the closest contest — won by just 1 vote.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4572000" cy="4572000"/>
          </a:xfrm>
          <a:prstGeom prst="ellipse">
            <a:avLst/>
          </a:prstGeom>
          <a:solidFill>
            <a:srgbClr val="1B998B">
              <a:alpha val="12000"/>
            </a:srgbClr>
          </a:solidFill>
          <a:ln w="12700">
            <a:solidFill>
              <a:srgbClr val="1B998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Flip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70% of Tamil Nadu Constituencies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Their Winning Party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01752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54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154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FLIPS BY REGION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14400"/>
            <a:ext cx="301752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89320" y="1417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Tamil Nadu experienced the largest electoral shift with 38 constituency flips, while the Delta region remained relatively stable with only 15 changes.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3108960"/>
            <a:ext cx="3017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Flipped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3520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9893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234 constituencies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MOVEMENT ANALYSIS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65760" y="960120"/>
          <a:ext cx="50292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Winner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Winner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AIADMK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AIADMK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AIADMK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577840" y="960120"/>
          <a:ext cx="3383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captured seats from both DMK and AIADMK — the dominant force in seat transitions.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SEAT DISTRIBUTION CHANGES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9144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 saw the most dramatic realignment — DMK's 29 seats collapsed to just 2, with TVK stepping in to fill the void. South Tamil Nadu followed a similar pattern, confirming a state-wide electoral shift.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1B998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2A900">
              <a:alpha val="18000"/>
            </a:srgbClr>
          </a:solidFill>
          <a:ln w="12700">
            <a:solidFill>
              <a:srgbClr val="F2A90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Elections Became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Competitive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victory margins declined significantly — indicating tighter races across Tamil Nadu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840480" cy="1737360"/>
          </a:xfrm>
          <a:prstGeom prst="rect">
            <a:avLst/>
          </a:prstGeom>
          <a:solidFill>
            <a:srgbClr val="FFFFFF">
              <a:alpha val="88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22,871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Winning Margin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063240"/>
            <a:ext cx="3840480" cy="1737360"/>
          </a:xfrm>
          <a:prstGeom prst="rect">
            <a:avLst/>
          </a:prstGeom>
          <a:solidFill>
            <a:srgbClr val="FFFFFF">
              <a:alpha val="88000"/>
            </a:srgbClr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16,784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Winning Margin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26.6% drop in average margin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CONTESTS — 2026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91840" cy="1828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Tiruppattur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15000" y="1417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71500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margin — the closest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in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926080"/>
            <a:ext cx="3291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342900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several constituencies, only a few hundred votes separated the winner from the runner-up — a clear sign of heightened electoral competitiveness in 2026.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TV Show Narrative for AtliQ Media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4114800" cy="1645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Seat Flip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constituencies changed winning parties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shifts occurred across all regions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emerged as the dominant beneficiary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114800" cy="2926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4114800" cy="16459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Competitive Election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5146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margins declined by 26.6%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Tiruppattur won by just 1 vote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constituencies decided by &lt;300 votes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54456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Story Works: Measurable, verifiable, and entirely based on Election Commission of India data — no political speculation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Source 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based solely on Election Commission of India (ECI) official results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External Variables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demographic, caste, income, or voter survey data was used or referenced.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No Causal Claims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attempt was made to explain why parties won or lost constituencies.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No Predictions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includes no prediction of future election outcomes.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5176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Correlation ≠ Causation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4160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observed should not be interpreted as cause-and-effect relationships.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 STATEMENT: This analysis is strictly descriptive and non-partisan.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5486400" cy="5486400"/>
          </a:xfrm>
          <a:prstGeom prst="ellipse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1B99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2A900">
              <a:alpha val="17000"/>
            </a:srgbClr>
          </a:solidFill>
          <a:ln w="12700">
            <a:solidFill>
              <a:srgbClr val="F2A900">
                <a:alpha val="1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Assembly Election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Storytelling for AtliQ Media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Election Commission of India (ECI) Official Results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Tamil Nadu Assembly Election 2026</dc:title>
  <dc:subject>PptxGenJS Presentation</dc:subject>
  <dc:creator>PptxGenJS</dc:creator>
  <cp:lastModifiedBy>vidhi</cp:lastModifiedBy>
  <cp:revision>1</cp:revision>
  <dcterms:created xsi:type="dcterms:W3CDTF">2026-06-02T05:42:19Z</dcterms:created>
  <dcterms:modified xsi:type="dcterms:W3CDTF">2026-06-02T06:00:42Z</dcterms:modified>
</cp:coreProperties>
</file>